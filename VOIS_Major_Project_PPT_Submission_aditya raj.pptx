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7" r:id="rId12"/>
    <p:sldId id="344" r:id="rId13"/>
    <p:sldId id="348" r:id="rId14"/>
    <p:sldId id="345" r:id="rId15"/>
    <p:sldId id="349" r:id="rId16"/>
    <p:sldId id="346" r:id="rId17"/>
    <p:sldId id="350" r:id="rId18"/>
    <p:sldId id="341"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dityaraj042003/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86813" y="3655498"/>
            <a:ext cx="6980903" cy="789913"/>
          </a:xfrm>
        </p:spPr>
        <p:txBody>
          <a:bodyPr vert="horz" lIns="91440" tIns="45720" rIns="91440" bIns="45720" rtlCol="0" anchor="t">
            <a:normAutofit fontScale="92500" lnSpcReduction="10000"/>
          </a:bodyPr>
          <a:lstStyle/>
          <a:p>
            <a:r>
              <a:rPr lang="en-US" b="0" dirty="0">
                <a:solidFill>
                  <a:schemeClr val="tx1"/>
                </a:solidFill>
              </a:rPr>
              <a:t>    </a:t>
            </a:r>
            <a:r>
              <a:rPr lang="en-US" sz="2200" b="0" dirty="0">
                <a:solidFill>
                  <a:schemeClr val="tx1"/>
                </a:solidFill>
                <a:latin typeface="Times New Roman" panose="02020603050405020304" pitchFamily="18" charset="0"/>
                <a:cs typeface="Times New Roman" panose="02020603050405020304" pitchFamily="18" charset="0"/>
              </a:rPr>
              <a:t>Student Name – Aditya Raj</a:t>
            </a:r>
            <a:endParaRPr lang="en-IN" sz="2200" b="0" dirty="0">
              <a:solidFill>
                <a:schemeClr val="tx1"/>
              </a:solidFill>
              <a:latin typeface="Times New Roman" panose="02020603050405020304" pitchFamily="18" charset="0"/>
              <a:cs typeface="Times New Roman" panose="02020603050405020304" pitchFamily="18" charset="0"/>
            </a:endParaRPr>
          </a:p>
          <a:p>
            <a:r>
              <a:rPr lang="en-US" sz="2200" b="0" dirty="0">
                <a:solidFill>
                  <a:schemeClr val="tx1"/>
                </a:solidFill>
                <a:latin typeface="Times New Roman" panose="02020603050405020304" pitchFamily="18" charset="0"/>
                <a:cs typeface="Times New Roman" panose="02020603050405020304" pitchFamily="18" charset="0"/>
              </a:rPr>
              <a:t>     College Name- Trident Academy Of </a:t>
            </a:r>
            <a:r>
              <a:rPr lang="en-IN" sz="2200" b="0" dirty="0">
                <a:solidFill>
                  <a:schemeClr val="tx1"/>
                </a:solidFill>
                <a:latin typeface="Times New Roman" panose="02020603050405020304" pitchFamily="18" charset="0"/>
                <a:cs typeface="Times New Roman" panose="02020603050405020304" pitchFamily="18" charset="0"/>
              </a:rPr>
              <a:t>Technology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2116" y="2794001"/>
            <a:ext cx="5214968" cy="634999"/>
          </a:xfrm>
        </p:spPr>
        <p:txBody>
          <a:bodyPr>
            <a:noAutofit/>
          </a:bodyPr>
          <a:lstStyle/>
          <a:p>
            <a:r>
              <a:rPr lang="en-GB" sz="3600" dirty="0">
                <a:latin typeface="Century Schoolbook" panose="02040604050505020304" pitchFamily="18" charset="0"/>
              </a:rPr>
              <a:t>Project Title -</a:t>
            </a:r>
            <a:endParaRPr lang="en-IN" sz="3600" dirty="0">
              <a:latin typeface="Century Schoolbook" panose="020406040505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5FFFD865-E508-C59D-0BF2-E603CFC78AD4}"/>
              </a:ext>
            </a:extLst>
          </p:cNvPr>
          <p:cNvSpPr txBox="1"/>
          <p:nvPr/>
        </p:nvSpPr>
        <p:spPr>
          <a:xfrm>
            <a:off x="462116" y="4405997"/>
            <a:ext cx="6098102" cy="369332"/>
          </a:xfrm>
          <a:prstGeom prst="rect">
            <a:avLst/>
          </a:prstGeom>
          <a:noFill/>
        </p:spPr>
        <p:txBody>
          <a:bodyPr wrap="square">
            <a:spAutoFit/>
          </a:bodyPr>
          <a:lstStyle/>
          <a:p>
            <a:r>
              <a:rPr lang="en-IN" dirty="0"/>
              <a:t> Internship ID: INTERNSHIP_17830691666a4779eecfe8a </a:t>
            </a:r>
          </a:p>
        </p:txBody>
      </p:sp>
      <p:sp>
        <p:nvSpPr>
          <p:cNvPr id="9" name="TextBox 8">
            <a:extLst>
              <a:ext uri="{FF2B5EF4-FFF2-40B4-BE49-F238E27FC236}">
                <a16:creationId xmlns:a16="http://schemas.microsoft.com/office/drawing/2014/main" id="{A840C199-283D-1E85-FF8F-998820741571}"/>
              </a:ext>
            </a:extLst>
          </p:cNvPr>
          <p:cNvSpPr txBox="1"/>
          <p:nvPr/>
        </p:nvSpPr>
        <p:spPr>
          <a:xfrm>
            <a:off x="558099" y="4739708"/>
            <a:ext cx="6098102" cy="369332"/>
          </a:xfrm>
          <a:prstGeom prst="rect">
            <a:avLst/>
          </a:prstGeom>
          <a:noFill/>
        </p:spPr>
        <p:txBody>
          <a:bodyPr wrap="square">
            <a:spAutoFit/>
          </a:bodyPr>
          <a:lstStyle/>
          <a:p>
            <a:r>
              <a:rPr lang="en-IN" dirty="0"/>
              <a:t>STU ID: :STU6801129018d5c1744900752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70271" y="1573160"/>
            <a:ext cx="7425413" cy="4178711"/>
          </a:xfrm>
        </p:spPr>
        <p:txBody>
          <a:bodyPr vert="horz" lIns="91440" tIns="45720" rIns="91440" bIns="45720" rtlCol="0" anchor="t">
            <a:normAutofit fontScale="85000" lnSpcReduction="20000"/>
          </a:bodyPr>
          <a:lstStyle/>
          <a:p>
            <a:pPr algn="just">
              <a:lnSpc>
                <a:spcPct val="100000"/>
              </a:lnSpc>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a:t>
            </a:r>
          </a:p>
          <a:p>
            <a:pPr algn="just">
              <a:lnSpc>
                <a:spcPct val="100000"/>
              </a:lnSpc>
            </a:pPr>
            <a:r>
              <a:rPr lang="en-IN" sz="2800" dirty="0">
                <a:latin typeface="Times New Roman" panose="02020603050405020304" pitchFamily="18" charset="0"/>
                <a:cs typeface="Times New Roman" panose="02020603050405020304" pitchFamily="18" charset="0"/>
              </a:rPr>
              <a:t> However, raw agricultural data does not clearly explain how agricultural performance changes across seasons or what patterns can be observed in different seasonal conditions. </a:t>
            </a:r>
          </a:p>
          <a:p>
            <a:pPr algn="just">
              <a:lnSpc>
                <a:spcPct val="100000"/>
              </a:lnSpc>
            </a:pPr>
            <a:r>
              <a:rPr lang="en-IN" sz="2800" dirty="0">
                <a:latin typeface="Times New Roman" panose="02020603050405020304" pitchFamily="18" charset="0"/>
                <a:cs typeface="Times New Roman" panose="02020603050405020304" pitchFamily="18" charset="0"/>
              </a:rPr>
              <a:t>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7691308" cy="816267"/>
          </a:xfrm>
        </p:spPr>
        <p:txBody>
          <a:bodyPr>
            <a:normAutofit/>
          </a:bodyPr>
          <a:lstStyle/>
          <a:p>
            <a:r>
              <a:rPr lang="en-US" sz="4000" dirty="0">
                <a:latin typeface="Century Schoolbook" panose="02040604050505020304" pitchFamily="18" charset="0"/>
              </a:rPr>
              <a:t>PROBLEM  STATEMENT</a:t>
            </a:r>
            <a:endParaRPr lang="en-IN" sz="4000" dirty="0">
              <a:latin typeface="Century Schoolbook" panose="020406040505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8" y="805214"/>
            <a:ext cx="7706853" cy="669626"/>
          </a:xfrm>
        </p:spPr>
        <p:txBody>
          <a:bodyPr>
            <a:normAutofit fontScale="90000"/>
          </a:bodyPr>
          <a:lstStyle/>
          <a:p>
            <a:r>
              <a:rPr lang="en-GB" sz="4400" dirty="0">
                <a:latin typeface="Century Schoolbook" panose="02040604050505020304" pitchFamily="18" charset="0"/>
              </a:rPr>
              <a:t>Project Description :- </a:t>
            </a:r>
            <a:br>
              <a:rPr lang="en-GB" dirty="0"/>
            </a:br>
            <a:br>
              <a:rPr lang="en-GB" dirty="0"/>
            </a:br>
            <a:r>
              <a:rPr lang="en-IN" sz="2200" b="0" dirty="0">
                <a:latin typeface="Times New Roman" panose="02020603050405020304" pitchFamily="18" charset="0"/>
                <a:cs typeface="Times New Roman" panose="02020603050405020304" pitchFamily="18" charset="0"/>
              </a:rPr>
              <a:t>This project </a:t>
            </a:r>
            <a:r>
              <a:rPr lang="en-IN" sz="2200" b="0" dirty="0" err="1">
                <a:latin typeface="Times New Roman" panose="02020603050405020304" pitchFamily="18" charset="0"/>
                <a:cs typeface="Times New Roman" panose="02020603050405020304" pitchFamily="18" charset="0"/>
              </a:rPr>
              <a:t>analyzes</a:t>
            </a:r>
            <a:r>
              <a:rPr lang="en-IN" sz="2200" b="0" dirty="0">
                <a:latin typeface="Times New Roman" panose="02020603050405020304" pitchFamily="18" charset="0"/>
                <a:cs typeface="Times New Roman" panose="02020603050405020304" pitchFamily="18" charset="0"/>
              </a:rPr>
              <a:t> agricultural data across different seasons, crops, regions, environmental conditions, farming practices, resource usage, and economic factors.</a:t>
            </a:r>
            <a:br>
              <a:rPr lang="en-IN" sz="2200" b="0" dirty="0">
                <a:latin typeface="Times New Roman" panose="02020603050405020304" pitchFamily="18" charset="0"/>
                <a:cs typeface="Times New Roman" panose="02020603050405020304" pitchFamily="18" charset="0"/>
              </a:rPr>
            </a:br>
            <a:r>
              <a:rPr lang="en-IN" sz="2200" b="0" dirty="0">
                <a:latin typeface="Times New Roman" panose="02020603050405020304" pitchFamily="18" charset="0"/>
                <a:cs typeface="Times New Roman" panose="02020603050405020304" pitchFamily="18" charset="0"/>
              </a:rPr>
              <a:t>The analysis uses Python, Pandas, NumPy, Matplotlib, Seaborn, and SciPy to clean and explore the dataset, identify seasonal patterns, compare agricultural performance, </a:t>
            </a:r>
            <a:r>
              <a:rPr lang="en-IN" sz="2200" b="0" dirty="0" err="1">
                <a:latin typeface="Times New Roman" panose="02020603050405020304" pitchFamily="18" charset="0"/>
                <a:cs typeface="Times New Roman" panose="02020603050405020304" pitchFamily="18" charset="0"/>
              </a:rPr>
              <a:t>analyze</a:t>
            </a:r>
            <a:r>
              <a:rPr lang="en-IN" sz="2200" b="0" dirty="0">
                <a:latin typeface="Times New Roman" panose="02020603050405020304" pitchFamily="18" charset="0"/>
                <a:cs typeface="Times New Roman" panose="02020603050405020304" pitchFamily="18" charset="0"/>
              </a:rPr>
              <a:t> relationships between variables, detect unusual observations, and evaluate yield, production, profitability, water efficiency, and disease/pest risk.</a:t>
            </a:r>
            <a:br>
              <a:rPr lang="en-IN" sz="2200" b="0" dirty="0">
                <a:latin typeface="Times New Roman" panose="02020603050405020304" pitchFamily="18" charset="0"/>
                <a:cs typeface="Times New Roman" panose="02020603050405020304" pitchFamily="18" charset="0"/>
              </a:rPr>
            </a:br>
            <a:r>
              <a:rPr lang="en-IN" sz="2200" b="0" dirty="0">
                <a:latin typeface="Times New Roman" panose="02020603050405020304" pitchFamily="18" charset="0"/>
                <a:cs typeface="Times New Roman" panose="02020603050405020304" pitchFamily="18" charset="0"/>
              </a:rPr>
              <a:t>The project also performs statistical analysis and comparative analysis across states, districts, crops, irrigation methods, seed quality, and seasons. The final findings are used to develop evidence-based recommendations for better crop selection, resource management, risk reduction, and agricultural planning.</a:t>
            </a:r>
            <a:br>
              <a:rPr lang="en-IN"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60" y="1991360"/>
            <a:ext cx="9160060" cy="3990023"/>
          </a:xfrm>
        </p:spPr>
        <p:txBody>
          <a:bodyPr>
            <a:normAutofit fontScale="92500" lnSpcReduction="20000"/>
          </a:bodyPr>
          <a:lstStyle/>
          <a:p>
            <a:r>
              <a:rPr lang="en-US" sz="36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Farmers and agricultural practitioners</a:t>
            </a:r>
          </a:p>
          <a:p>
            <a:r>
              <a:rPr lang="en-US" sz="4000" dirty="0">
                <a:latin typeface="Times New Roman" panose="02020603050405020304" pitchFamily="18" charset="0"/>
                <a:cs typeface="Times New Roman" panose="02020603050405020304" pitchFamily="18" charset="0"/>
              </a:rPr>
              <a:t> Agricultural planners and analysts</a:t>
            </a:r>
          </a:p>
          <a:p>
            <a:r>
              <a:rPr lang="en-US" sz="4000" dirty="0">
                <a:latin typeface="Times New Roman" panose="02020603050405020304" pitchFamily="18" charset="0"/>
                <a:cs typeface="Times New Roman" panose="02020603050405020304" pitchFamily="18" charset="0"/>
              </a:rPr>
              <a:t> Researchers and students</a:t>
            </a:r>
          </a:p>
          <a:p>
            <a:r>
              <a:rPr lang="en-US" sz="4000" dirty="0">
                <a:latin typeface="Times New Roman" panose="02020603050405020304" pitchFamily="18" charset="0"/>
                <a:cs typeface="Times New Roman" panose="02020603050405020304" pitchFamily="18" charset="0"/>
              </a:rPr>
              <a:t> Government and agricultural support organizations</a:t>
            </a:r>
          </a:p>
          <a:p>
            <a:r>
              <a:rPr lang="en-US" sz="4000" dirty="0">
                <a:latin typeface="Times New Roman" panose="02020603050405020304" pitchFamily="18" charset="0"/>
                <a:cs typeface="Times New Roman" panose="02020603050405020304" pitchFamily="18" charset="0"/>
              </a:rPr>
              <a:t>Decision-makers interested in seasonal agricultural performance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600" dirty="0">
                <a:latin typeface="Century Schoolbook" panose="02040604050505020304" pitchFamily="18" charset="0"/>
              </a:rPr>
              <a:t>WHO ARE THE END USERS?</a:t>
            </a:r>
            <a:endParaRPr lang="en-IN" sz="3600" dirty="0">
              <a:latin typeface="Century Schoolbook" panose="020406040505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02228" y="1518556"/>
            <a:ext cx="7916091" cy="5157451"/>
          </a:xfrm>
        </p:spPr>
        <p:txBody>
          <a:bodyPr/>
          <a:lstStyle/>
          <a:p>
            <a:r>
              <a:rPr lang="en-IN" dirty="0"/>
              <a:t>Python</a:t>
            </a:r>
          </a:p>
          <a:p>
            <a:r>
              <a:rPr lang="en-IN" dirty="0"/>
              <a:t>Jupyter Notebook</a:t>
            </a:r>
          </a:p>
          <a:p>
            <a:r>
              <a:rPr lang="en-IN" dirty="0"/>
              <a:t> Pandas – data cleaning and analysis</a:t>
            </a:r>
          </a:p>
          <a:p>
            <a:r>
              <a:rPr lang="en-IN" dirty="0"/>
              <a:t> NumPy – numerical operations</a:t>
            </a:r>
          </a:p>
          <a:p>
            <a:r>
              <a:rPr lang="en-IN" dirty="0"/>
              <a:t>Matplotlib / Seaborn – visualization</a:t>
            </a:r>
          </a:p>
          <a:p>
            <a:r>
              <a:rPr lang="en-IN" dirty="0"/>
              <a:t> Scikit-learn / SciPy – statistical or analytical techniques where appropriate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a:latin typeface="Century Schoolbook" panose="020406040505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80013" y="356003"/>
            <a:ext cx="9332581" cy="666078"/>
          </a:xfrm>
        </p:spPr>
        <p:txBody>
          <a:bodyPr>
            <a:noAutofit/>
          </a:bodyPr>
          <a:lstStyle/>
          <a:p>
            <a:r>
              <a:rPr lang="en-IN" sz="2800" dirty="0">
                <a:latin typeface="Century Schoolbook" panose="02040604050505020304" pitchFamily="18" charset="0"/>
              </a:rPr>
              <a:t>RESULT 1 — DATA QUALITY &amp; PREPARATION</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7AB5007-005E-1456-3D0D-A0BD382E0C1A}"/>
              </a:ext>
            </a:extLst>
          </p:cNvPr>
          <p:cNvSpPr txBox="1"/>
          <p:nvPr/>
        </p:nvSpPr>
        <p:spPr>
          <a:xfrm>
            <a:off x="560440" y="1022081"/>
            <a:ext cx="8632546" cy="231601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4,000 records and 28 columns were analyzed.</a:t>
            </a:r>
          </a:p>
          <a:p>
            <a:endParaRPr lang="en-IN" dirty="0">
              <a:latin typeface="Times New Roman" panose="02020603050405020304" pitchFamily="18" charset="0"/>
              <a:cs typeface="Times New Roman" panose="02020603050405020304" pitchFamily="18" charset="0"/>
            </a:endParaRPr>
          </a:p>
          <a:p>
            <a:pPr>
              <a:spcAft>
                <a:spcPts val="900"/>
              </a:spcAft>
              <a:defRPr sz="1700"/>
            </a:pPr>
            <a:r>
              <a:rPr lang="en-US" dirty="0">
                <a:latin typeface="Times New Roman" panose="02020603050405020304" pitchFamily="18" charset="0"/>
                <a:cs typeface="Times New Roman" panose="02020603050405020304" pitchFamily="18" charset="0"/>
              </a:rPr>
              <a:t>48 missing Rainfall values (1.20%), 40 Soil Moisture values (1.00%) and 32 Yield values (0.80%).</a:t>
            </a:r>
          </a:p>
          <a:p>
            <a:pPr>
              <a:spcAft>
                <a:spcPts val="900"/>
              </a:spcAft>
              <a:defRPr sz="1700"/>
            </a:pPr>
            <a:r>
              <a:rPr lang="en-US" dirty="0">
                <a:latin typeface="Times New Roman" panose="02020603050405020304" pitchFamily="18" charset="0"/>
                <a:cs typeface="Times New Roman" panose="02020603050405020304" pitchFamily="18" charset="0"/>
              </a:rPr>
              <a:t>No duplicate records were detected.</a:t>
            </a:r>
          </a:p>
          <a:p>
            <a:pPr>
              <a:spcAft>
                <a:spcPts val="900"/>
              </a:spcAft>
              <a:defRPr sz="1700"/>
            </a:pPr>
            <a:r>
              <a:rPr lang="en-US" dirty="0">
                <a:latin typeface="Times New Roman" panose="02020603050405020304" pitchFamily="18" charset="0"/>
                <a:cs typeface="Times New Roman" panose="02020603050405020304" pitchFamily="18" charset="0"/>
              </a:rPr>
              <a:t>Missing numerical values were handled during the cleaning stage before analysis.</a:t>
            </a:r>
          </a:p>
          <a:p>
            <a:endParaRPr lang="en-IN" dirty="0"/>
          </a:p>
        </p:txBody>
      </p:sp>
      <p:pic>
        <p:nvPicPr>
          <p:cNvPr id="6" name="Picture 5">
            <a:extLst>
              <a:ext uri="{FF2B5EF4-FFF2-40B4-BE49-F238E27FC236}">
                <a16:creationId xmlns:a16="http://schemas.microsoft.com/office/drawing/2014/main" id="{1CD173DA-F1C2-C7BF-364F-5273C82FDF72}"/>
              </a:ext>
            </a:extLst>
          </p:cNvPr>
          <p:cNvPicPr>
            <a:picLocks noChangeAspect="1"/>
          </p:cNvPicPr>
          <p:nvPr/>
        </p:nvPicPr>
        <p:blipFill>
          <a:blip r:embed="rId3"/>
          <a:stretch>
            <a:fillRect/>
          </a:stretch>
        </p:blipFill>
        <p:spPr>
          <a:xfrm>
            <a:off x="1700981" y="3097161"/>
            <a:ext cx="8111612" cy="37201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90"/>
            <a:ext cx="6619578" cy="445488"/>
          </a:xfrm>
        </p:spPr>
        <p:txBody>
          <a:bodyPr>
            <a:normAutofit/>
          </a:bodyPr>
          <a:lstStyle/>
          <a:p>
            <a:r>
              <a:rPr lang="en-IN" sz="2000" dirty="0">
                <a:latin typeface="Century Schoolbook" panose="02040604050505020304" pitchFamily="18" charset="0"/>
              </a:rPr>
              <a:t>RESULT 2 — SEASONAL PERFORMANCE</a:t>
            </a:r>
            <a:r>
              <a:rPr lang="en-GB" sz="2000" dirty="0">
                <a:latin typeface="Century Schoolbook" panose="02040604050505020304" pitchFamily="18" charset="0"/>
              </a:rPr>
              <a:t> </a:t>
            </a:r>
            <a:endParaRPr lang="en-IN" sz="2000" dirty="0">
              <a:latin typeface="Century Schoolbook" panose="02040604050505020304"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6245" y="1032387"/>
            <a:ext cx="8288594" cy="1494503"/>
          </a:xfrm>
        </p:spPr>
        <p:txBody>
          <a:bodyPr>
            <a:normAutofit fontScale="77500" lnSpcReduction="20000"/>
          </a:bodyPr>
          <a:lstStyle/>
          <a:p>
            <a:pPr marL="0" indent="0">
              <a:spcAft>
                <a:spcPts val="900"/>
              </a:spcAft>
              <a:buNone/>
              <a:defRPr sz="1700"/>
            </a:pPr>
            <a:r>
              <a:rPr lang="en-IN" dirty="0">
                <a:latin typeface="Times New Roman" panose="02020603050405020304" pitchFamily="18" charset="0"/>
                <a:cs typeface="Times New Roman" panose="02020603050405020304" pitchFamily="18" charset="0"/>
              </a:rPr>
              <a:t>Kharif: average yield 5.64 t/ha; average profit ₹178,914.65; water efficiency 5.89 t/1,000 m³; risk 54.47%.</a:t>
            </a:r>
          </a:p>
          <a:p>
            <a:pPr>
              <a:spcAft>
                <a:spcPts val="900"/>
              </a:spcAft>
              <a:defRPr sz="1700"/>
            </a:pPr>
            <a:r>
              <a:rPr lang="en-IN" dirty="0">
                <a:latin typeface="Times New Roman" panose="02020603050405020304" pitchFamily="18" charset="0"/>
                <a:cs typeface="Times New Roman" panose="02020603050405020304" pitchFamily="18" charset="0"/>
              </a:rPr>
              <a:t>Rabi: average yield 5.08 t/ha; average profit ₹87,689.47; water efficiency 5.19; risk 40.48%.</a:t>
            </a:r>
          </a:p>
          <a:p>
            <a:pPr>
              <a:spcAft>
                <a:spcPts val="900"/>
              </a:spcAft>
              <a:defRPr sz="1700"/>
            </a:pPr>
            <a:r>
              <a:rPr lang="en-IN" dirty="0">
                <a:latin typeface="Times New Roman" panose="02020603050405020304" pitchFamily="18" charset="0"/>
                <a:cs typeface="Times New Roman" panose="02020603050405020304" pitchFamily="18" charset="0"/>
              </a:rPr>
              <a:t>Zaid: average yield 4.67 t/ha; average profit −₹24,804.82; water efficiency 4.41; risk 38.22%.</a:t>
            </a:r>
          </a:p>
          <a:p>
            <a:pPr>
              <a:spcAft>
                <a:spcPts val="900"/>
              </a:spcAft>
              <a:defRPr sz="1700"/>
            </a:pPr>
            <a:r>
              <a:rPr lang="en-IN" dirty="0">
                <a:latin typeface="Times New Roman" panose="02020603050405020304" pitchFamily="18" charset="0"/>
                <a:cs typeface="Times New Roman" panose="02020603050405020304" pitchFamily="18" charset="0"/>
              </a:rPr>
              <a:t>Kharif leads on average yield, profit and water efficiency; Zaid has the lowest average profit</a:t>
            </a:r>
          </a:p>
        </p:txBody>
      </p:sp>
      <p:pic>
        <p:nvPicPr>
          <p:cNvPr id="9" name="Picture 8">
            <a:extLst>
              <a:ext uri="{FF2B5EF4-FFF2-40B4-BE49-F238E27FC236}">
                <a16:creationId xmlns:a16="http://schemas.microsoft.com/office/drawing/2014/main" id="{E281E3F1-4E60-8EF3-26EE-2973385250D3}"/>
              </a:ext>
            </a:extLst>
          </p:cNvPr>
          <p:cNvPicPr>
            <a:picLocks noChangeAspect="1"/>
          </p:cNvPicPr>
          <p:nvPr/>
        </p:nvPicPr>
        <p:blipFill>
          <a:blip r:embed="rId3"/>
          <a:stretch>
            <a:fillRect/>
          </a:stretch>
        </p:blipFill>
        <p:spPr>
          <a:xfrm>
            <a:off x="-1" y="2743199"/>
            <a:ext cx="12192001" cy="420820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A3B8-8875-B45A-CD29-B9285BD1DCBD}"/>
              </a:ext>
            </a:extLst>
          </p:cNvPr>
          <p:cNvSpPr>
            <a:spLocks noGrp="1"/>
          </p:cNvSpPr>
          <p:nvPr>
            <p:ph type="title"/>
          </p:nvPr>
        </p:nvSpPr>
        <p:spPr>
          <a:xfrm>
            <a:off x="677334" y="609600"/>
            <a:ext cx="8348679" cy="533400"/>
          </a:xfrm>
        </p:spPr>
        <p:txBody>
          <a:bodyPr>
            <a:normAutofit/>
          </a:bodyPr>
          <a:lstStyle/>
          <a:p>
            <a:r>
              <a:rPr lang="en-IN" sz="2800" dirty="0">
                <a:solidFill>
                  <a:schemeClr val="tx1">
                    <a:lumMod val="85000"/>
                    <a:lumOff val="15000"/>
                  </a:schemeClr>
                </a:solidFill>
                <a:latin typeface="Times New Roman" panose="02020603050405020304" pitchFamily="18" charset="0"/>
                <a:cs typeface="Times New Roman" panose="02020603050405020304" pitchFamily="18" charset="0"/>
              </a:rPr>
              <a:t>SEASONAL PERFORMANCE: VISUAL ANALYSIS</a:t>
            </a:r>
          </a:p>
        </p:txBody>
      </p:sp>
      <p:pic>
        <p:nvPicPr>
          <p:cNvPr id="6" name="Content Placeholder 5">
            <a:extLst>
              <a:ext uri="{FF2B5EF4-FFF2-40B4-BE49-F238E27FC236}">
                <a16:creationId xmlns:a16="http://schemas.microsoft.com/office/drawing/2014/main" id="{2B6CA1FA-8A6B-5DFB-BDA4-E4A2EFF1088B}"/>
              </a:ext>
            </a:extLst>
          </p:cNvPr>
          <p:cNvPicPr>
            <a:picLocks noGrp="1" noChangeAspect="1"/>
          </p:cNvPicPr>
          <p:nvPr>
            <p:ph sz="half" idx="1"/>
          </p:nvPr>
        </p:nvPicPr>
        <p:blipFill>
          <a:blip r:embed="rId2"/>
          <a:stretch>
            <a:fillRect/>
          </a:stretch>
        </p:blipFill>
        <p:spPr>
          <a:xfrm>
            <a:off x="480540" y="1280157"/>
            <a:ext cx="3796492" cy="2654671"/>
          </a:xfrm>
          <a:prstGeom prst="rect">
            <a:avLst/>
          </a:prstGeom>
        </p:spPr>
      </p:pic>
      <p:pic>
        <p:nvPicPr>
          <p:cNvPr id="7" name="Content Placeholder 6">
            <a:extLst>
              <a:ext uri="{FF2B5EF4-FFF2-40B4-BE49-F238E27FC236}">
                <a16:creationId xmlns:a16="http://schemas.microsoft.com/office/drawing/2014/main" id="{363D7E47-06B8-A006-9F91-74084C6695BB}"/>
              </a:ext>
            </a:extLst>
          </p:cNvPr>
          <p:cNvPicPr>
            <a:picLocks noGrp="1" noChangeAspect="1"/>
          </p:cNvPicPr>
          <p:nvPr>
            <p:ph sz="half" idx="2"/>
          </p:nvPr>
        </p:nvPicPr>
        <p:blipFill>
          <a:blip r:embed="rId3"/>
          <a:stretch>
            <a:fillRect/>
          </a:stretch>
        </p:blipFill>
        <p:spPr>
          <a:xfrm>
            <a:off x="5093110" y="1280157"/>
            <a:ext cx="4090218" cy="2524928"/>
          </a:xfrm>
          <a:prstGeom prst="rect">
            <a:avLst/>
          </a:prstGeom>
        </p:spPr>
      </p:pic>
      <p:sp>
        <p:nvSpPr>
          <p:cNvPr id="5" name="Slide Number Placeholder 4">
            <a:extLst>
              <a:ext uri="{FF2B5EF4-FFF2-40B4-BE49-F238E27FC236}">
                <a16:creationId xmlns:a16="http://schemas.microsoft.com/office/drawing/2014/main" id="{FB3BA9E4-6466-11A9-CF53-FA74822971C9}"/>
              </a:ext>
            </a:extLst>
          </p:cNvPr>
          <p:cNvSpPr>
            <a:spLocks noGrp="1"/>
          </p:cNvSpPr>
          <p:nvPr>
            <p:ph type="sldNum" sz="quarter" idx="12"/>
          </p:nvPr>
        </p:nvSpPr>
        <p:spPr/>
        <p:txBody>
          <a:bodyPr/>
          <a:lstStyle/>
          <a:p>
            <a:fld id="{6FF9F0C5-380F-41C2-899A-BAC0F0927E16}" type="slidenum">
              <a:rPr lang="en-US" smtClean="0"/>
              <a:t>8</a:t>
            </a:fld>
            <a:endParaRPr lang="en-US" dirty="0"/>
          </a:p>
        </p:txBody>
      </p:sp>
      <p:pic>
        <p:nvPicPr>
          <p:cNvPr id="9" name="Picture 8">
            <a:extLst>
              <a:ext uri="{FF2B5EF4-FFF2-40B4-BE49-F238E27FC236}">
                <a16:creationId xmlns:a16="http://schemas.microsoft.com/office/drawing/2014/main" id="{3575290C-066E-F8D4-4277-1E077BD8851C}"/>
              </a:ext>
            </a:extLst>
          </p:cNvPr>
          <p:cNvPicPr>
            <a:picLocks noChangeAspect="1"/>
          </p:cNvPicPr>
          <p:nvPr/>
        </p:nvPicPr>
        <p:blipFill>
          <a:blip r:embed="rId4"/>
          <a:stretch>
            <a:fillRect/>
          </a:stretch>
        </p:blipFill>
        <p:spPr>
          <a:xfrm>
            <a:off x="480540" y="4050824"/>
            <a:ext cx="3676821" cy="2440303"/>
          </a:xfrm>
          <a:prstGeom prst="rect">
            <a:avLst/>
          </a:prstGeom>
        </p:spPr>
      </p:pic>
      <p:pic>
        <p:nvPicPr>
          <p:cNvPr id="11" name="Picture 10">
            <a:extLst>
              <a:ext uri="{FF2B5EF4-FFF2-40B4-BE49-F238E27FC236}">
                <a16:creationId xmlns:a16="http://schemas.microsoft.com/office/drawing/2014/main" id="{A65DD451-62B1-B89E-96D7-28239A722539}"/>
              </a:ext>
            </a:extLst>
          </p:cNvPr>
          <p:cNvPicPr>
            <a:picLocks noChangeAspect="1"/>
          </p:cNvPicPr>
          <p:nvPr/>
        </p:nvPicPr>
        <p:blipFill>
          <a:blip r:embed="rId5"/>
          <a:stretch>
            <a:fillRect/>
          </a:stretch>
        </p:blipFill>
        <p:spPr>
          <a:xfrm>
            <a:off x="5074688" y="3820148"/>
            <a:ext cx="4090218" cy="2654671"/>
          </a:xfrm>
          <a:prstGeom prst="rect">
            <a:avLst/>
          </a:prstGeom>
        </p:spPr>
      </p:pic>
    </p:spTree>
    <p:extLst>
      <p:ext uri="{BB962C8B-B14F-4D97-AF65-F5344CB8AC3E}">
        <p14:creationId xmlns:p14="http://schemas.microsoft.com/office/powerpoint/2010/main" val="4042737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90"/>
            <a:ext cx="7612637" cy="666078"/>
          </a:xfrm>
        </p:spPr>
        <p:txBody>
          <a:bodyPr>
            <a:noAutofit/>
          </a:bodyPr>
          <a:lstStyle/>
          <a:p>
            <a:r>
              <a:rPr lang="en-US" sz="2400" dirty="0">
                <a:latin typeface="Century Schoolbook" panose="02040604050505020304" pitchFamily="18" charset="0"/>
              </a:rPr>
              <a:t>RESULT 3 — CROP &amp; IRRIGATION INSIGHTS</a:t>
            </a:r>
            <a:r>
              <a:rPr lang="en-GB" sz="2400" dirty="0">
                <a:latin typeface="Century Schoolbook" panose="02040604050505020304" pitchFamily="18" charset="0"/>
              </a:rPr>
              <a:t> </a:t>
            </a:r>
            <a:endParaRPr lang="en-IN" sz="2400" dirty="0">
              <a:latin typeface="Century Schoolbook" panose="020406040505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8" y="894736"/>
            <a:ext cx="8251732" cy="2113936"/>
          </a:xfrm>
        </p:spPr>
        <p:txBody>
          <a:bodyPr>
            <a:normAutofit lnSpcReduction="10000"/>
          </a:bodyPr>
          <a:lstStyle/>
          <a:p>
            <a:pPr marL="0" indent="0">
              <a:spcAft>
                <a:spcPts val="900"/>
              </a:spcAft>
              <a:buNone/>
              <a:defRPr sz="1700"/>
            </a:pPr>
            <a:r>
              <a:rPr lang="en-US" sz="1800" dirty="0">
                <a:latin typeface="Times New Roman" panose="02020603050405020304" pitchFamily="18" charset="0"/>
                <a:cs typeface="Times New Roman" panose="02020603050405020304" pitchFamily="18" charset="0"/>
              </a:rPr>
              <a:t>Sugarcane is the best crop by average yield and also the best crop by average profit.</a:t>
            </a:r>
          </a:p>
          <a:p>
            <a:pPr>
              <a:spcAft>
                <a:spcPts val="900"/>
              </a:spcAft>
              <a:defRPr sz="1700"/>
            </a:pPr>
            <a:r>
              <a:rPr lang="en-US" sz="1800" dirty="0">
                <a:latin typeface="Times New Roman" panose="02020603050405020304" pitchFamily="18" charset="0"/>
                <a:cs typeface="Times New Roman" panose="02020603050405020304" pitchFamily="18" charset="0"/>
              </a:rPr>
              <a:t>Drip irrigation gives the highest average yield among irrigation methods.</a:t>
            </a:r>
          </a:p>
          <a:p>
            <a:pPr>
              <a:spcAft>
                <a:spcPts val="900"/>
              </a:spcAft>
              <a:defRPr sz="1700"/>
            </a:pPr>
            <a:r>
              <a:rPr lang="en-US" sz="1800" dirty="0">
                <a:latin typeface="Times New Roman" panose="02020603050405020304" pitchFamily="18" charset="0"/>
                <a:cs typeface="Times New Roman" panose="02020603050405020304" pitchFamily="18" charset="0"/>
              </a:rPr>
              <a:t>Rainfed farming has the highest average water efficiency in the analysis.</a:t>
            </a:r>
          </a:p>
          <a:p>
            <a:pPr>
              <a:spcAft>
                <a:spcPts val="900"/>
              </a:spcAft>
              <a:defRPr sz="1700"/>
            </a:pPr>
            <a:r>
              <a:rPr lang="en-US" sz="1800" dirty="0">
                <a:latin typeface="Times New Roman" panose="02020603050405020304" pitchFamily="18" charset="0"/>
                <a:cs typeface="Times New Roman" panose="02020603050405020304" pitchFamily="18" charset="0"/>
              </a:rPr>
              <a:t>Performance differs by crop × season, so overall crop averages alone are not sufficient.</a:t>
            </a:r>
          </a:p>
        </p:txBody>
      </p:sp>
      <p:pic>
        <p:nvPicPr>
          <p:cNvPr id="9" name="Picture 8">
            <a:extLst>
              <a:ext uri="{FF2B5EF4-FFF2-40B4-BE49-F238E27FC236}">
                <a16:creationId xmlns:a16="http://schemas.microsoft.com/office/drawing/2014/main" id="{E605D35C-ACEC-861C-AE5D-62DE73D0AFA0}"/>
              </a:ext>
            </a:extLst>
          </p:cNvPr>
          <p:cNvPicPr>
            <a:picLocks noChangeAspect="1"/>
          </p:cNvPicPr>
          <p:nvPr/>
        </p:nvPicPr>
        <p:blipFill>
          <a:blip r:embed="rId3"/>
          <a:stretch>
            <a:fillRect/>
          </a:stretch>
        </p:blipFill>
        <p:spPr>
          <a:xfrm>
            <a:off x="0" y="3095197"/>
            <a:ext cx="5938684" cy="3762803"/>
          </a:xfrm>
          <a:prstGeom prst="rect">
            <a:avLst/>
          </a:prstGeom>
        </p:spPr>
      </p:pic>
      <p:pic>
        <p:nvPicPr>
          <p:cNvPr id="13" name="Picture 12">
            <a:extLst>
              <a:ext uri="{FF2B5EF4-FFF2-40B4-BE49-F238E27FC236}">
                <a16:creationId xmlns:a16="http://schemas.microsoft.com/office/drawing/2014/main" id="{D8267BBC-6C7F-8A21-CAF1-8AE61028CF75}"/>
              </a:ext>
            </a:extLst>
          </p:cNvPr>
          <p:cNvPicPr>
            <a:picLocks noChangeAspect="1"/>
          </p:cNvPicPr>
          <p:nvPr/>
        </p:nvPicPr>
        <p:blipFill>
          <a:blip r:embed="rId4"/>
          <a:stretch>
            <a:fillRect/>
          </a:stretch>
        </p:blipFill>
        <p:spPr>
          <a:xfrm>
            <a:off x="6096001" y="3085681"/>
            <a:ext cx="6096000" cy="377231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66B4-64EF-0544-B6EA-358FEB4E9F4A}"/>
              </a:ext>
            </a:extLst>
          </p:cNvPr>
          <p:cNvSpPr>
            <a:spLocks noGrp="1"/>
          </p:cNvSpPr>
          <p:nvPr>
            <p:ph type="title"/>
          </p:nvPr>
        </p:nvSpPr>
        <p:spPr>
          <a:xfrm>
            <a:off x="1091381" y="609600"/>
            <a:ext cx="9094837" cy="550606"/>
          </a:xfrm>
        </p:spPr>
        <p:txBody>
          <a:bodyPr>
            <a:normAutofit fontScale="90000"/>
          </a:bodyPr>
          <a:lstStyle/>
          <a:p>
            <a:r>
              <a:rPr lang="en-IN" b="1" dirty="0">
                <a:solidFill>
                  <a:schemeClr val="tx1"/>
                </a:solidFill>
                <a:latin typeface="Century Schoolbook" panose="02040604050505020304" pitchFamily="18" charset="0"/>
              </a:rPr>
              <a:t>Average Profit by Irrigation Method</a:t>
            </a:r>
            <a:r>
              <a:rPr lang="en-IN" dirty="0">
                <a:solidFill>
                  <a:schemeClr val="tx1"/>
                </a:solidFill>
                <a:latin typeface="Century Schoolbook" panose="02040604050505020304" pitchFamily="18" charset="0"/>
              </a:rPr>
              <a:t> </a:t>
            </a:r>
          </a:p>
        </p:txBody>
      </p:sp>
      <p:pic>
        <p:nvPicPr>
          <p:cNvPr id="6" name="Content Placeholder 5">
            <a:extLst>
              <a:ext uri="{FF2B5EF4-FFF2-40B4-BE49-F238E27FC236}">
                <a16:creationId xmlns:a16="http://schemas.microsoft.com/office/drawing/2014/main" id="{1B6EA418-7267-E3BE-26A3-139DC5D6E491}"/>
              </a:ext>
            </a:extLst>
          </p:cNvPr>
          <p:cNvPicPr>
            <a:picLocks noGrp="1" noChangeAspect="1"/>
          </p:cNvPicPr>
          <p:nvPr>
            <p:ph sz="half" idx="1"/>
          </p:nvPr>
        </p:nvPicPr>
        <p:blipFill>
          <a:blip r:embed="rId2"/>
          <a:stretch>
            <a:fillRect/>
          </a:stretch>
        </p:blipFill>
        <p:spPr>
          <a:xfrm>
            <a:off x="677334" y="1427901"/>
            <a:ext cx="4183062" cy="2495456"/>
          </a:xfrm>
          <a:prstGeom prst="rect">
            <a:avLst/>
          </a:prstGeom>
        </p:spPr>
      </p:pic>
      <p:pic>
        <p:nvPicPr>
          <p:cNvPr id="7" name="Content Placeholder 6">
            <a:extLst>
              <a:ext uri="{FF2B5EF4-FFF2-40B4-BE49-F238E27FC236}">
                <a16:creationId xmlns:a16="http://schemas.microsoft.com/office/drawing/2014/main" id="{65B5391E-E949-739E-0392-583D2715C90C}"/>
              </a:ext>
            </a:extLst>
          </p:cNvPr>
          <p:cNvPicPr>
            <a:picLocks noGrp="1" noChangeAspect="1"/>
          </p:cNvPicPr>
          <p:nvPr>
            <p:ph sz="half" idx="2"/>
          </p:nvPr>
        </p:nvPicPr>
        <p:blipFill>
          <a:blip r:embed="rId3"/>
          <a:stretch>
            <a:fillRect/>
          </a:stretch>
        </p:blipFill>
        <p:spPr>
          <a:xfrm>
            <a:off x="4969182" y="1319272"/>
            <a:ext cx="4184650" cy="2496404"/>
          </a:xfrm>
          <a:prstGeom prst="rect">
            <a:avLst/>
          </a:prstGeom>
        </p:spPr>
      </p:pic>
      <p:sp>
        <p:nvSpPr>
          <p:cNvPr id="5" name="Slide Number Placeholder 4">
            <a:extLst>
              <a:ext uri="{FF2B5EF4-FFF2-40B4-BE49-F238E27FC236}">
                <a16:creationId xmlns:a16="http://schemas.microsoft.com/office/drawing/2014/main" id="{750A96CE-2DD4-5C11-C81D-062413F590ED}"/>
              </a:ext>
            </a:extLst>
          </p:cNvPr>
          <p:cNvSpPr>
            <a:spLocks noGrp="1"/>
          </p:cNvSpPr>
          <p:nvPr>
            <p:ph type="sldNum" sz="quarter" idx="12"/>
          </p:nvPr>
        </p:nvSpPr>
        <p:spPr/>
        <p:txBody>
          <a:bodyPr/>
          <a:lstStyle/>
          <a:p>
            <a:fld id="{6FF9F0C5-380F-41C2-899A-BAC0F0927E16}" type="slidenum">
              <a:rPr lang="en-US" smtClean="0"/>
              <a:t>10</a:t>
            </a:fld>
            <a:endParaRPr lang="en-US" dirty="0"/>
          </a:p>
        </p:txBody>
      </p:sp>
      <p:pic>
        <p:nvPicPr>
          <p:cNvPr id="9" name="Picture 8">
            <a:extLst>
              <a:ext uri="{FF2B5EF4-FFF2-40B4-BE49-F238E27FC236}">
                <a16:creationId xmlns:a16="http://schemas.microsoft.com/office/drawing/2014/main" id="{08D6EB02-107B-159F-71F6-EFB19637BDC7}"/>
              </a:ext>
            </a:extLst>
          </p:cNvPr>
          <p:cNvPicPr>
            <a:picLocks noChangeAspect="1"/>
          </p:cNvPicPr>
          <p:nvPr/>
        </p:nvPicPr>
        <p:blipFill>
          <a:blip r:embed="rId4"/>
          <a:stretch>
            <a:fillRect/>
          </a:stretch>
        </p:blipFill>
        <p:spPr>
          <a:xfrm>
            <a:off x="5217634" y="3997040"/>
            <a:ext cx="3864964" cy="2723082"/>
          </a:xfrm>
          <a:prstGeom prst="rect">
            <a:avLst/>
          </a:prstGeom>
        </p:spPr>
      </p:pic>
      <p:pic>
        <p:nvPicPr>
          <p:cNvPr id="11" name="Picture 10">
            <a:extLst>
              <a:ext uri="{FF2B5EF4-FFF2-40B4-BE49-F238E27FC236}">
                <a16:creationId xmlns:a16="http://schemas.microsoft.com/office/drawing/2014/main" id="{C2CDAD96-4B84-D5FD-480E-91555FF442B5}"/>
              </a:ext>
            </a:extLst>
          </p:cNvPr>
          <p:cNvPicPr>
            <a:picLocks noChangeAspect="1"/>
          </p:cNvPicPr>
          <p:nvPr/>
        </p:nvPicPr>
        <p:blipFill>
          <a:blip r:embed="rId5"/>
          <a:stretch>
            <a:fillRect/>
          </a:stretch>
        </p:blipFill>
        <p:spPr>
          <a:xfrm>
            <a:off x="677334" y="4134918"/>
            <a:ext cx="4185561" cy="2496948"/>
          </a:xfrm>
          <a:prstGeom prst="rect">
            <a:avLst/>
          </a:prstGeom>
        </p:spPr>
      </p:pic>
    </p:spTree>
    <p:extLst>
      <p:ext uri="{BB962C8B-B14F-4D97-AF65-F5344CB8AC3E}">
        <p14:creationId xmlns:p14="http://schemas.microsoft.com/office/powerpoint/2010/main" val="3201465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8" y="370590"/>
            <a:ext cx="9657746" cy="666078"/>
          </a:xfrm>
        </p:spPr>
        <p:txBody>
          <a:bodyPr>
            <a:noAutofit/>
          </a:bodyPr>
          <a:lstStyle/>
          <a:p>
            <a:r>
              <a:rPr lang="en-US" sz="2400" dirty="0">
                <a:latin typeface="Century Schoolbook" panose="02040604050505020304" pitchFamily="18" charset="0"/>
              </a:rPr>
              <a:t>RESULT 4 — VARIABILITY &amp; STATISTICAL EVIDENCE</a:t>
            </a:r>
            <a:r>
              <a:rPr lang="en-GB" sz="2400" dirty="0">
                <a:latin typeface="Century Schoolbook" panose="02040604050505020304" pitchFamily="18" charset="0"/>
              </a:rPr>
              <a:t> </a:t>
            </a:r>
            <a:endParaRPr lang="en-IN" sz="2400" dirty="0">
              <a:latin typeface="Century Schoolbook" panose="020406040505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86582" y="924233"/>
            <a:ext cx="8937522" cy="2123768"/>
          </a:xfrm>
        </p:spPr>
        <p:txBody>
          <a:bodyPr>
            <a:normAutofit fontScale="92500" lnSpcReduction="20000"/>
          </a:bodyPr>
          <a:lstStyle/>
          <a:p>
            <a:pPr marL="0" indent="0">
              <a:spcAft>
                <a:spcPts val="900"/>
              </a:spcAft>
              <a:buNone/>
              <a:defRPr sz="1700"/>
            </a:pPr>
            <a:r>
              <a:rPr lang="en-US" dirty="0">
                <a:latin typeface="Times New Roman" panose="02020603050405020304" pitchFamily="18" charset="0"/>
                <a:cs typeface="Times New Roman" panose="02020603050405020304" pitchFamily="18" charset="0"/>
              </a:rPr>
              <a:t>Yield coefficient of variation: Kharif 255.48%, Rabi 252.44%, Zaid 242.56%.</a:t>
            </a:r>
          </a:p>
          <a:p>
            <a:pPr>
              <a:spcAft>
                <a:spcPts val="900"/>
              </a:spcAft>
              <a:defRPr sz="1700"/>
            </a:pPr>
            <a:r>
              <a:rPr lang="en-US" dirty="0">
                <a:latin typeface="Times New Roman" panose="02020603050405020304" pitchFamily="18" charset="0"/>
                <a:cs typeface="Times New Roman" panose="02020603050405020304" pitchFamily="18" charset="0"/>
              </a:rPr>
              <a:t>Zaid is the most consistent season by yield CV; Kharif is the most variable.</a:t>
            </a:r>
          </a:p>
          <a:p>
            <a:pPr>
              <a:spcAft>
                <a:spcPts val="900"/>
              </a:spcAft>
              <a:defRPr sz="1700"/>
            </a:pPr>
            <a:r>
              <a:rPr lang="en-US" dirty="0">
                <a:latin typeface="Times New Roman" panose="02020603050405020304" pitchFamily="18" charset="0"/>
                <a:cs typeface="Times New Roman" panose="02020603050405020304" pitchFamily="18" charset="0"/>
              </a:rPr>
              <a:t>ANOVA and post-hoc testing were used to assess whether seasonal differences are statistically meaningful.</a:t>
            </a:r>
          </a:p>
          <a:p>
            <a:pPr>
              <a:spcAft>
                <a:spcPts val="900"/>
              </a:spcAft>
              <a:defRPr sz="1700"/>
            </a:pPr>
            <a:r>
              <a:rPr lang="en-US" dirty="0">
                <a:latin typeface="Times New Roman" panose="02020603050405020304" pitchFamily="18" charset="0"/>
                <a:cs typeface="Times New Roman" panose="02020603050405020304" pitchFamily="18" charset="0"/>
              </a:rPr>
              <a:t>Correlation analysis found weak overall relationships between environmental variables and yield in this dataset.</a:t>
            </a:r>
          </a:p>
        </p:txBody>
      </p:sp>
      <p:pic>
        <p:nvPicPr>
          <p:cNvPr id="6" name="Picture 5">
            <a:extLst>
              <a:ext uri="{FF2B5EF4-FFF2-40B4-BE49-F238E27FC236}">
                <a16:creationId xmlns:a16="http://schemas.microsoft.com/office/drawing/2014/main" id="{5364B992-17FD-0DAB-67E7-339E676061AE}"/>
              </a:ext>
            </a:extLst>
          </p:cNvPr>
          <p:cNvPicPr>
            <a:picLocks noChangeAspect="1"/>
          </p:cNvPicPr>
          <p:nvPr/>
        </p:nvPicPr>
        <p:blipFill>
          <a:blip r:embed="rId3"/>
          <a:stretch>
            <a:fillRect/>
          </a:stretch>
        </p:blipFill>
        <p:spPr>
          <a:xfrm>
            <a:off x="0" y="3120786"/>
            <a:ext cx="5987845" cy="3737213"/>
          </a:xfrm>
          <a:prstGeom prst="rect">
            <a:avLst/>
          </a:prstGeom>
        </p:spPr>
      </p:pic>
      <p:pic>
        <p:nvPicPr>
          <p:cNvPr id="12" name="Picture 11">
            <a:extLst>
              <a:ext uri="{FF2B5EF4-FFF2-40B4-BE49-F238E27FC236}">
                <a16:creationId xmlns:a16="http://schemas.microsoft.com/office/drawing/2014/main" id="{B6E24593-A5DF-31C0-4034-44A850F9CFC5}"/>
              </a:ext>
            </a:extLst>
          </p:cNvPr>
          <p:cNvPicPr>
            <a:picLocks noChangeAspect="1"/>
          </p:cNvPicPr>
          <p:nvPr/>
        </p:nvPicPr>
        <p:blipFill>
          <a:blip r:embed="rId4"/>
          <a:stretch>
            <a:fillRect/>
          </a:stretch>
        </p:blipFill>
        <p:spPr>
          <a:xfrm>
            <a:off x="6023295" y="3120786"/>
            <a:ext cx="6168705" cy="373721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0740E-EFEA-2A4B-E500-C723CC017718}"/>
              </a:ext>
            </a:extLst>
          </p:cNvPr>
          <p:cNvSpPr>
            <a:spLocks noGrp="1"/>
          </p:cNvSpPr>
          <p:nvPr>
            <p:ph type="title"/>
          </p:nvPr>
        </p:nvSpPr>
        <p:spPr>
          <a:xfrm>
            <a:off x="677334" y="609600"/>
            <a:ext cx="8230692" cy="806245"/>
          </a:xfrm>
        </p:spPr>
        <p:txBody>
          <a:bodyPr>
            <a:normAutofit/>
          </a:bodyPr>
          <a:lstStyle/>
          <a:p>
            <a:r>
              <a:rPr lang="en-IN" sz="3200" dirty="0">
                <a:solidFill>
                  <a:schemeClr val="tx1"/>
                </a:solidFill>
                <a:latin typeface="Century Schoolbook" panose="02040604050505020304" pitchFamily="18" charset="0"/>
              </a:rPr>
              <a:t>Distribution of Yield Across Seasons</a:t>
            </a:r>
          </a:p>
        </p:txBody>
      </p:sp>
      <p:pic>
        <p:nvPicPr>
          <p:cNvPr id="5" name="Content Placeholder 4">
            <a:extLst>
              <a:ext uri="{FF2B5EF4-FFF2-40B4-BE49-F238E27FC236}">
                <a16:creationId xmlns:a16="http://schemas.microsoft.com/office/drawing/2014/main" id="{61993537-E604-54DA-772E-61751E0D15E4}"/>
              </a:ext>
            </a:extLst>
          </p:cNvPr>
          <p:cNvPicPr>
            <a:picLocks noGrp="1" noChangeAspect="1"/>
          </p:cNvPicPr>
          <p:nvPr>
            <p:ph idx="1"/>
          </p:nvPr>
        </p:nvPicPr>
        <p:blipFill>
          <a:blip r:embed="rId2"/>
          <a:stretch>
            <a:fillRect/>
          </a:stretch>
        </p:blipFill>
        <p:spPr>
          <a:xfrm>
            <a:off x="435897" y="1294068"/>
            <a:ext cx="9143999" cy="5343520"/>
          </a:xfrm>
          <a:prstGeom prst="rect">
            <a:avLst/>
          </a:prstGeom>
        </p:spPr>
      </p:pic>
      <p:sp>
        <p:nvSpPr>
          <p:cNvPr id="4" name="Slide Number Placeholder 3">
            <a:extLst>
              <a:ext uri="{FF2B5EF4-FFF2-40B4-BE49-F238E27FC236}">
                <a16:creationId xmlns:a16="http://schemas.microsoft.com/office/drawing/2014/main" id="{CB43D2D0-F80F-C42C-4564-AC45D98E9CD1}"/>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212022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6" y="370589"/>
            <a:ext cx="9362779" cy="666079"/>
          </a:xfrm>
        </p:spPr>
        <p:txBody>
          <a:bodyPr>
            <a:normAutofit/>
          </a:bodyPr>
          <a:lstStyle/>
          <a:p>
            <a:r>
              <a:rPr lang="en-IN" sz="2800" dirty="0">
                <a:latin typeface="Century Schoolbook" panose="02040604050505020304" pitchFamily="18" charset="0"/>
              </a:rPr>
              <a:t>RESULT 5 — MULTI-FACTOR PERFORMANCE</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924233"/>
            <a:ext cx="8926772" cy="2133599"/>
          </a:xfrm>
        </p:spPr>
        <p:txBody>
          <a:bodyPr>
            <a:normAutofit/>
          </a:bodyPr>
          <a:lstStyle/>
          <a:p>
            <a:pPr marL="0" indent="0">
              <a:spcAft>
                <a:spcPts val="900"/>
              </a:spcAft>
              <a:buNone/>
              <a:defRPr sz="1700"/>
            </a:pPr>
            <a:r>
              <a:rPr lang="en-IN" dirty="0">
                <a:latin typeface="Times New Roman" panose="02020603050405020304" pitchFamily="18" charset="0"/>
                <a:cs typeface="Times New Roman" panose="02020603050405020304" pitchFamily="18" charset="0"/>
              </a:rPr>
              <a:t>Overall score weights: 30% Yield + 30% Profit + 20% Water Efficiency + 20% Risk.</a:t>
            </a:r>
          </a:p>
          <a:p>
            <a:pPr>
              <a:spcAft>
                <a:spcPts val="900"/>
              </a:spcAft>
              <a:defRPr sz="1700"/>
            </a:pPr>
            <a:r>
              <a:rPr lang="en-IN" dirty="0">
                <a:latin typeface="Times New Roman" panose="02020603050405020304" pitchFamily="18" charset="0"/>
                <a:cs typeface="Times New Roman" panose="02020603050405020304" pitchFamily="18" charset="0"/>
              </a:rPr>
              <a:t>Top crop-season combination: Sugarcane – Kharif, with overall performance score 0.82.</a:t>
            </a:r>
          </a:p>
          <a:p>
            <a:pPr>
              <a:spcAft>
                <a:spcPts val="900"/>
              </a:spcAft>
              <a:defRPr sz="1700"/>
            </a:pPr>
            <a:r>
              <a:rPr lang="en-IN" dirty="0">
                <a:latin typeface="Times New Roman" panose="02020603050405020304" pitchFamily="18" charset="0"/>
                <a:cs typeface="Times New Roman" panose="02020603050405020304" pitchFamily="18" charset="0"/>
              </a:rPr>
              <a:t>Sugarcane – Rabi follows with score 0.80; Sugarcane – Zaid scores 0.72.</a:t>
            </a:r>
          </a:p>
          <a:p>
            <a:pPr>
              <a:spcAft>
                <a:spcPts val="900"/>
              </a:spcAft>
              <a:defRPr sz="1700"/>
            </a:pPr>
            <a:r>
              <a:rPr lang="en-IN" dirty="0">
                <a:latin typeface="Times New Roman" panose="02020603050405020304" pitchFamily="18" charset="0"/>
                <a:cs typeface="Times New Roman" panose="02020603050405020304" pitchFamily="18" charset="0"/>
              </a:rPr>
              <a:t>The score is an analytical comparison, not a universal agricultural standard.</a:t>
            </a:r>
          </a:p>
        </p:txBody>
      </p:sp>
      <p:pic>
        <p:nvPicPr>
          <p:cNvPr id="3" name="Picture 2">
            <a:extLst>
              <a:ext uri="{FF2B5EF4-FFF2-40B4-BE49-F238E27FC236}">
                <a16:creationId xmlns:a16="http://schemas.microsoft.com/office/drawing/2014/main" id="{BEAE3BE3-BF66-EFE8-7D32-9DE25B0348E2}"/>
              </a:ext>
            </a:extLst>
          </p:cNvPr>
          <p:cNvPicPr>
            <a:picLocks noChangeAspect="1"/>
          </p:cNvPicPr>
          <p:nvPr/>
        </p:nvPicPr>
        <p:blipFill>
          <a:blip r:embed="rId3"/>
          <a:stretch>
            <a:fillRect/>
          </a:stretch>
        </p:blipFill>
        <p:spPr>
          <a:xfrm>
            <a:off x="807163" y="3000491"/>
            <a:ext cx="9764216" cy="383212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D814BA-724A-632E-8AA9-82D7A988D1E2}"/>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4" name="Content Placeholder 4">
            <a:extLst>
              <a:ext uri="{FF2B5EF4-FFF2-40B4-BE49-F238E27FC236}">
                <a16:creationId xmlns:a16="http://schemas.microsoft.com/office/drawing/2014/main" id="{11E54614-0C31-10A8-26C6-6CFACBCBCA9B}"/>
              </a:ext>
            </a:extLst>
          </p:cNvPr>
          <p:cNvPicPr>
            <a:picLocks noChangeAspect="1"/>
          </p:cNvPicPr>
          <p:nvPr/>
        </p:nvPicPr>
        <p:blipFill>
          <a:blip r:embed="rId2"/>
          <a:stretch>
            <a:fillRect/>
          </a:stretch>
        </p:blipFill>
        <p:spPr>
          <a:xfrm>
            <a:off x="433493" y="570271"/>
            <a:ext cx="10499357" cy="5471091"/>
          </a:xfrm>
          <a:prstGeom prst="rect">
            <a:avLst/>
          </a:prstGeom>
        </p:spPr>
      </p:pic>
    </p:spTree>
    <p:extLst>
      <p:ext uri="{BB962C8B-B14F-4D97-AF65-F5344CB8AC3E}">
        <p14:creationId xmlns:p14="http://schemas.microsoft.com/office/powerpoint/2010/main" val="62844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3600" dirty="0">
                <a:latin typeface="Century Schoolbook" panose="020406040505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D8908E66-CE29-5C77-EEEE-A711CC4FA8CD}"/>
              </a:ext>
            </a:extLst>
          </p:cNvPr>
          <p:cNvSpPr txBox="1"/>
          <p:nvPr/>
        </p:nvSpPr>
        <p:spPr>
          <a:xfrm>
            <a:off x="675957" y="1275371"/>
            <a:ext cx="8625359" cy="4370427"/>
          </a:xfrm>
          <a:prstGeom prst="rect">
            <a:avLst/>
          </a:prstGeom>
          <a:noFill/>
        </p:spPr>
        <p:txBody>
          <a:bodyPr wrap="square" rtlCol="0">
            <a:spAutoFit/>
          </a:bodyPr>
          <a:lstStyle/>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Machine Learning:</a:t>
            </a:r>
            <a:r>
              <a:rPr lang="en-IN" sz="2000" dirty="0">
                <a:latin typeface="Times New Roman" panose="02020603050405020304" pitchFamily="18" charset="0"/>
                <a:cs typeface="Times New Roman" panose="02020603050405020304" pitchFamily="18" charset="0"/>
              </a:rPr>
              <a:t> Develop models to predict crop yield and profitability.</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Smart Crop Recommendation:</a:t>
            </a:r>
            <a:r>
              <a:rPr lang="en-IN" sz="2000" dirty="0">
                <a:latin typeface="Times New Roman" panose="02020603050405020304" pitchFamily="18" charset="0"/>
                <a:cs typeface="Times New Roman" panose="02020603050405020304" pitchFamily="18" charset="0"/>
              </a:rPr>
              <a:t> Recommend suitable crops based on season, soil, weather, and resources.</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Real-Time Weather Data:</a:t>
            </a:r>
            <a:r>
              <a:rPr lang="en-IN" sz="2000" dirty="0">
                <a:latin typeface="Times New Roman" panose="02020603050405020304" pitchFamily="18" charset="0"/>
                <a:cs typeface="Times New Roman" panose="02020603050405020304" pitchFamily="18" charset="0"/>
              </a:rPr>
              <a:t> Integrate live rainfall, temperature, humidity, and weather forecasts.</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Resource Optimization:</a:t>
            </a:r>
            <a:r>
              <a:rPr lang="en-IN" sz="2000" dirty="0">
                <a:latin typeface="Times New Roman" panose="02020603050405020304" pitchFamily="18" charset="0"/>
                <a:cs typeface="Times New Roman" panose="02020603050405020304" pitchFamily="18" charset="0"/>
              </a:rPr>
              <a:t> Optimize water, fertilizer, and pesticide usage.</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Disease &amp; Pest Prediction:</a:t>
            </a:r>
            <a:r>
              <a:rPr lang="en-IN" sz="2000" dirty="0">
                <a:latin typeface="Times New Roman" panose="02020603050405020304" pitchFamily="18" charset="0"/>
                <a:cs typeface="Times New Roman" panose="02020603050405020304" pitchFamily="18" charset="0"/>
              </a:rPr>
              <a:t> Build early-warning systems for agricultural risks.</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Interactive Dashboard:</a:t>
            </a:r>
            <a:r>
              <a:rPr lang="en-IN" sz="2000" dirty="0">
                <a:latin typeface="Times New Roman" panose="02020603050405020304" pitchFamily="18" charset="0"/>
                <a:cs typeface="Times New Roman" panose="02020603050405020304" pitchFamily="18" charset="0"/>
              </a:rPr>
              <a:t> Develop a Power BI/Tableau dashboard for real-time decision-making.</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Satellite &amp; IoT Integration:</a:t>
            </a:r>
            <a:r>
              <a:rPr lang="en-IN" sz="2000" dirty="0">
                <a:latin typeface="Times New Roman" panose="02020603050405020304" pitchFamily="18" charset="0"/>
                <a:cs typeface="Times New Roman" panose="02020603050405020304" pitchFamily="18" charset="0"/>
              </a:rPr>
              <a:t> Use satellite imagery and IoT sensors for field-level monitoring.</a:t>
            </a:r>
          </a:p>
          <a:p>
            <a:pPr marL="285750" lvl="0" indent="-28575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Larger Dataset:</a:t>
            </a:r>
            <a:r>
              <a:rPr lang="en-IN" sz="2000" dirty="0">
                <a:latin typeface="Times New Roman" panose="02020603050405020304" pitchFamily="18" charset="0"/>
                <a:cs typeface="Times New Roman" panose="02020603050405020304" pitchFamily="18" charset="0"/>
              </a:rPr>
              <a:t> Include multiple years and more geographical regions for more reliable predictions.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3600" dirty="0">
                <a:latin typeface="Century Schoolbook" panose="020406040505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597DEE6F-3901-C34E-696C-56DF9ADDDDF1}"/>
              </a:ext>
            </a:extLst>
          </p:cNvPr>
          <p:cNvSpPr txBox="1"/>
          <p:nvPr/>
        </p:nvSpPr>
        <p:spPr>
          <a:xfrm>
            <a:off x="675957" y="1415069"/>
            <a:ext cx="8803324" cy="1200329"/>
          </a:xfrm>
          <a:prstGeom prst="rect">
            <a:avLst/>
          </a:prstGeom>
          <a:noFill/>
        </p:spPr>
        <p:txBody>
          <a:bodyPr wrap="square">
            <a:spAutoFit/>
          </a:bodyPr>
          <a:lstStyle/>
          <a:p>
            <a:r>
              <a:rPr lang="en-IN" b="1" dirty="0">
                <a:hlinkClick r:id="rId3">
                  <a:extLst>
                    <a:ext uri="{A12FA001-AC4F-418D-AE19-62706E023703}">
                      <ahyp:hlinkClr xmlns:ahyp="http://schemas.microsoft.com/office/drawing/2018/hyperlinkcolor" val="tx"/>
                    </a:ext>
                  </a:extLst>
                </a:hlinkClick>
              </a:rPr>
              <a:t>Adityaraj042003/Seasonal-Agriculture-Performance-Analysis: An end-to-end data analytics project that </a:t>
            </a:r>
            <a:r>
              <a:rPr lang="en-IN" b="1" dirty="0" err="1">
                <a:hlinkClick r:id="rId3">
                  <a:extLst>
                    <a:ext uri="{A12FA001-AC4F-418D-AE19-62706E023703}">
                      <ahyp:hlinkClr xmlns:ahyp="http://schemas.microsoft.com/office/drawing/2018/hyperlinkcolor" val="tx"/>
                    </a:ext>
                  </a:extLst>
                </a:hlinkClick>
              </a:rPr>
              <a:t>analyzes</a:t>
            </a:r>
            <a:r>
              <a:rPr lang="en-IN" b="1" dirty="0">
                <a:hlinkClick r:id="rId3">
                  <a:extLst>
                    <a:ext uri="{A12FA001-AC4F-418D-AE19-62706E023703}">
                      <ahyp:hlinkClr xmlns:ahyp="http://schemas.microsoft.com/office/drawing/2018/hyperlinkcolor" val="tx"/>
                    </a:ext>
                  </a:extLst>
                </a:hlinkClick>
              </a:rPr>
              <a:t> agricultural performance across Kharif, Rabi, and Zaid seasons using environmental conditions, farming practices, resource utilization, crop performance, and economic indicators.</a:t>
            </a:r>
            <a:endParaRPr lang="en-IN"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latin typeface="Century Schoolbook" panose="02040604050505020304" pitchFamily="18" charset="0"/>
              </a:rPr>
              <a:t>VOIS Course completion certificate - </a:t>
            </a:r>
            <a:br>
              <a:rPr lang="en-IN" sz="3200" dirty="0">
                <a:latin typeface="Century Schoolbook" panose="02040604050505020304" pitchFamily="18" charset="0"/>
              </a:rPr>
            </a:br>
            <a:r>
              <a:rPr lang="en-IN" sz="3200" dirty="0">
                <a:latin typeface="Century Schoolbook" panose="020406040505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1ED886C-81B0-6422-41F6-D23EF3536C5C}"/>
              </a:ext>
            </a:extLst>
          </p:cNvPr>
          <p:cNvPicPr>
            <a:picLocks noChangeAspect="1"/>
          </p:cNvPicPr>
          <p:nvPr/>
        </p:nvPicPr>
        <p:blipFill>
          <a:blip r:embed="rId3"/>
          <a:stretch>
            <a:fillRect/>
          </a:stretch>
        </p:blipFill>
        <p:spPr>
          <a:xfrm>
            <a:off x="1135781" y="1558828"/>
            <a:ext cx="6853187" cy="439920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75957" y="1799302"/>
            <a:ext cx="8743346" cy="3854246"/>
          </a:xfrm>
          <a:prstGeom prst="rect">
            <a:avLst/>
          </a:prstGeom>
        </p:spPr>
        <p:txBody>
          <a:bodyPr anchor="ctr">
            <a:noAutofit/>
          </a:bodyPr>
          <a:lstStyle/>
          <a:p>
            <a:pPr algn="ctr"/>
            <a:r>
              <a:rPr lang="en-US" sz="10100" b="1" dirty="0">
                <a:solidFill>
                  <a:schemeClr val="tx1"/>
                </a:solidFill>
                <a:latin typeface="Century Schoolbook" panose="020406040505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1579</TotalTime>
  <Words>856</Words>
  <Application>Microsoft Office PowerPoint</Application>
  <PresentationFormat>Widescreen</PresentationFormat>
  <Paragraphs>72</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Facet</vt:lpstr>
      <vt:lpstr>Project Title -</vt:lpstr>
      <vt:lpstr>PROBLEM  STATEMENT</vt:lpstr>
      <vt:lpstr>Project Description :-   This project analyzes agricultural data across different seasons, crops, regions, environmental conditions, farming practices, resource usage, and economic factors. The analysis uses Python, Pandas, NumPy, Matplotlib, Seaborn, and SciPy to clean and explore the dataset, identify seasonal patterns, compare agricultural performance, analyze relationships between variables, detect unusual observations, and evaluate yield, production, profitability, water efficiency, and disease/pest risk. The project also performs statistical analysis and comparative analysis across states, districts, crops, irrigation methods, seed quality, and seasons. The final findings are used to develop evidence-based recommendations for better crop selection, resource management, risk reduction, and agricultural planning. </vt:lpstr>
      <vt:lpstr>WHO ARE THE END USERS?</vt:lpstr>
      <vt:lpstr>Technology Used</vt:lpstr>
      <vt:lpstr>RESULT 1 — DATA QUALITY &amp; PREPARATION</vt:lpstr>
      <vt:lpstr>RESULT 2 — SEASONAL PERFORMANCE </vt:lpstr>
      <vt:lpstr>SEASONAL PERFORMANCE: VISUAL ANALYSIS</vt:lpstr>
      <vt:lpstr>RESULT 3 — CROP &amp; IRRIGATION INSIGHTS </vt:lpstr>
      <vt:lpstr>Average Profit by Irrigation Method </vt:lpstr>
      <vt:lpstr>RESULT 4 — VARIABILITY &amp; STATISTICAL EVIDENCE </vt:lpstr>
      <vt:lpstr>Distribution of Yield Across Seasons</vt:lpstr>
      <vt:lpstr>RESULT 5 — MULTI-FACTOR PERFORMANCE</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ADITYA Bhardwaj</cp:lastModifiedBy>
  <cp:revision>109</cp:revision>
  <dcterms:created xsi:type="dcterms:W3CDTF">2021-07-11T13:13:15Z</dcterms:created>
  <dcterms:modified xsi:type="dcterms:W3CDTF">2026-09-08T15:43:08Z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